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inzel Bold" panose="020B0604020202020204" charset="0"/>
      <p:regular r:id="rId14"/>
    </p:embeddedFont>
    <p:embeddedFont>
      <p:font typeface="Cinzel Decorative Bold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PT Sans Bold" panose="020B0604020202020204" charset="0"/>
      <p:regular r:id="rId17"/>
    </p:embeddedFont>
    <p:embeddedFont>
      <p:font typeface="Source Sans Pro" panose="020B0503030403020204" pitchFamily="34" charset="0"/>
      <p:regular r:id="rId18"/>
      <p:bold r:id="rId19"/>
    </p:embeddedFont>
    <p:embeddedFont>
      <p:font typeface="Source Sans Pro Bold" panose="020B0703030403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bakr Agbolahan Salahudeen" userId="893b2383f3db77ad" providerId="LiveId" clId="{0CD4BE49-695A-4FDF-B0A6-47A32EAFC667}"/>
    <pc:docChg chg="undo custSel modSld">
      <pc:chgData name="Abubakr Agbolahan Salahudeen" userId="893b2383f3db77ad" providerId="LiveId" clId="{0CD4BE49-695A-4FDF-B0A6-47A32EAFC667}" dt="2025-09-04T03:46:49.296" v="124" actId="20577"/>
      <pc:docMkLst>
        <pc:docMk/>
      </pc:docMkLst>
      <pc:sldChg chg="modSp mod">
        <pc:chgData name="Abubakr Agbolahan Salahudeen" userId="893b2383f3db77ad" providerId="LiveId" clId="{0CD4BE49-695A-4FDF-B0A6-47A32EAFC667}" dt="2025-09-04T03:43:38.350" v="80" actId="20577"/>
        <pc:sldMkLst>
          <pc:docMk/>
          <pc:sldMk cId="0" sldId="256"/>
        </pc:sldMkLst>
        <pc:spChg chg="mod">
          <ac:chgData name="Abubakr Agbolahan Salahudeen" userId="893b2383f3db77ad" providerId="LiveId" clId="{0CD4BE49-695A-4FDF-B0A6-47A32EAFC667}" dt="2025-09-04T03:43:38.350" v="8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bubakr Agbolahan Salahudeen" userId="893b2383f3db77ad" providerId="LiveId" clId="{0CD4BE49-695A-4FDF-B0A6-47A32EAFC667}" dt="2025-09-04T03:46:49.296" v="124" actId="20577"/>
        <pc:sldMkLst>
          <pc:docMk/>
          <pc:sldMk cId="0" sldId="258"/>
        </pc:sldMkLst>
        <pc:spChg chg="mod">
          <ac:chgData name="Abubakr Agbolahan Salahudeen" userId="893b2383f3db77ad" providerId="LiveId" clId="{0CD4BE49-695A-4FDF-B0A6-47A32EAFC667}" dt="2025-09-04T03:46:49.296" v="124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sv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84583" y="887342"/>
            <a:ext cx="10006118" cy="5640458"/>
            <a:chOff x="0" y="0"/>
            <a:chExt cx="13341491" cy="7520611"/>
          </a:xfrm>
        </p:grpSpPr>
        <p:sp>
          <p:nvSpPr>
            <p:cNvPr id="3" name="Freeform 3"/>
            <p:cNvSpPr/>
            <p:nvPr/>
          </p:nvSpPr>
          <p:spPr>
            <a:xfrm>
              <a:off x="16891" y="17018"/>
              <a:ext cx="13307694" cy="7486650"/>
            </a:xfrm>
            <a:custGeom>
              <a:avLst/>
              <a:gdLst/>
              <a:ahLst/>
              <a:cxnLst/>
              <a:rect l="l" t="t" r="r" b="b"/>
              <a:pathLst>
                <a:path w="13307694" h="7486650">
                  <a:moveTo>
                    <a:pt x="0" y="1247775"/>
                  </a:moveTo>
                  <a:cubicBezTo>
                    <a:pt x="0" y="558673"/>
                    <a:pt x="559816" y="0"/>
                    <a:pt x="1250315" y="0"/>
                  </a:cubicBezTo>
                  <a:lnTo>
                    <a:pt x="12057380" y="0"/>
                  </a:lnTo>
                  <a:cubicBezTo>
                    <a:pt x="12747879" y="0"/>
                    <a:pt x="13307694" y="558673"/>
                    <a:pt x="13307694" y="1247775"/>
                  </a:cubicBezTo>
                  <a:lnTo>
                    <a:pt x="13307694" y="6238875"/>
                  </a:lnTo>
                  <a:cubicBezTo>
                    <a:pt x="13307694" y="6927977"/>
                    <a:pt x="12747879" y="7486650"/>
                    <a:pt x="12057380" y="7486650"/>
                  </a:cubicBezTo>
                  <a:lnTo>
                    <a:pt x="1250315" y="7486650"/>
                  </a:lnTo>
                  <a:cubicBezTo>
                    <a:pt x="559816" y="7486650"/>
                    <a:pt x="0" y="6927977"/>
                    <a:pt x="0" y="6238875"/>
                  </a:cubicBezTo>
                  <a:close/>
                </a:path>
              </a:pathLst>
            </a:custGeom>
            <a:solidFill>
              <a:srgbClr val="E6C33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3341477" cy="7520686"/>
            </a:xfrm>
            <a:custGeom>
              <a:avLst/>
              <a:gdLst/>
              <a:ahLst/>
              <a:cxnLst/>
              <a:rect l="l" t="t" r="r" b="b"/>
              <a:pathLst>
                <a:path w="13341477" h="7520686">
                  <a:moveTo>
                    <a:pt x="0" y="1264793"/>
                  </a:moveTo>
                  <a:cubicBezTo>
                    <a:pt x="0" y="566166"/>
                    <a:pt x="567436" y="0"/>
                    <a:pt x="1267206" y="0"/>
                  </a:cubicBezTo>
                  <a:lnTo>
                    <a:pt x="12074271" y="0"/>
                  </a:lnTo>
                  <a:lnTo>
                    <a:pt x="12074271" y="16891"/>
                  </a:lnTo>
                  <a:lnTo>
                    <a:pt x="12074271" y="0"/>
                  </a:lnTo>
                  <a:cubicBezTo>
                    <a:pt x="12774040" y="0"/>
                    <a:pt x="13341477" y="566166"/>
                    <a:pt x="13341477" y="1264793"/>
                  </a:cubicBezTo>
                  <a:lnTo>
                    <a:pt x="13324585" y="1264793"/>
                  </a:lnTo>
                  <a:lnTo>
                    <a:pt x="13341477" y="1264793"/>
                  </a:lnTo>
                  <a:lnTo>
                    <a:pt x="13341477" y="6255893"/>
                  </a:lnTo>
                  <a:lnTo>
                    <a:pt x="13324585" y="6255893"/>
                  </a:lnTo>
                  <a:lnTo>
                    <a:pt x="13341477" y="6255893"/>
                  </a:lnTo>
                  <a:cubicBezTo>
                    <a:pt x="13341477" y="6954393"/>
                    <a:pt x="12774040" y="7520686"/>
                    <a:pt x="12074271" y="7520686"/>
                  </a:cubicBezTo>
                  <a:lnTo>
                    <a:pt x="12074271" y="7503795"/>
                  </a:lnTo>
                  <a:lnTo>
                    <a:pt x="12074271" y="7520686"/>
                  </a:lnTo>
                  <a:lnTo>
                    <a:pt x="1267206" y="7520686"/>
                  </a:lnTo>
                  <a:lnTo>
                    <a:pt x="1267206" y="7503795"/>
                  </a:lnTo>
                  <a:lnTo>
                    <a:pt x="1267206" y="7520686"/>
                  </a:lnTo>
                  <a:cubicBezTo>
                    <a:pt x="567436" y="7520559"/>
                    <a:pt x="0" y="6954393"/>
                    <a:pt x="0" y="6255893"/>
                  </a:cubicBezTo>
                  <a:lnTo>
                    <a:pt x="0" y="1264793"/>
                  </a:lnTo>
                  <a:lnTo>
                    <a:pt x="16891" y="1264793"/>
                  </a:lnTo>
                  <a:lnTo>
                    <a:pt x="0" y="1264793"/>
                  </a:lnTo>
                  <a:moveTo>
                    <a:pt x="33909" y="1264793"/>
                  </a:moveTo>
                  <a:lnTo>
                    <a:pt x="33909" y="6255893"/>
                  </a:lnTo>
                  <a:lnTo>
                    <a:pt x="16891" y="6255893"/>
                  </a:lnTo>
                  <a:lnTo>
                    <a:pt x="33909" y="6255893"/>
                  </a:lnTo>
                  <a:cubicBezTo>
                    <a:pt x="33909" y="6935597"/>
                    <a:pt x="586105" y="7486777"/>
                    <a:pt x="1267206" y="7486777"/>
                  </a:cubicBezTo>
                  <a:lnTo>
                    <a:pt x="12074271" y="7486777"/>
                  </a:lnTo>
                  <a:cubicBezTo>
                    <a:pt x="12755499" y="7486777"/>
                    <a:pt x="13307568" y="6935724"/>
                    <a:pt x="13307568" y="6255893"/>
                  </a:cubicBezTo>
                  <a:lnTo>
                    <a:pt x="13307568" y="1264793"/>
                  </a:lnTo>
                  <a:cubicBezTo>
                    <a:pt x="13307568" y="585089"/>
                    <a:pt x="12755372" y="33909"/>
                    <a:pt x="12074271" y="33909"/>
                  </a:cubicBezTo>
                  <a:lnTo>
                    <a:pt x="1267206" y="33909"/>
                  </a:lnTo>
                  <a:lnTo>
                    <a:pt x="1267206" y="16891"/>
                  </a:lnTo>
                  <a:lnTo>
                    <a:pt x="1267206" y="33909"/>
                  </a:lnTo>
                  <a:cubicBezTo>
                    <a:pt x="585978" y="33909"/>
                    <a:pt x="33909" y="584962"/>
                    <a:pt x="33909" y="1264793"/>
                  </a:cubicBez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3810000" y="938735"/>
            <a:ext cx="10538473" cy="138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9"/>
              </a:lnSpc>
            </a:pPr>
            <a:r>
              <a:rPr lang="en-US" sz="7178" b="1">
                <a:solidFill>
                  <a:srgbClr val="FFFFFF"/>
                </a:solidFill>
                <a:latin typeface="Cinzel Bold"/>
                <a:ea typeface="Cinzel Bold"/>
                <a:cs typeface="Cinzel Bold"/>
                <a:sym typeface="Cinzel Bold"/>
              </a:rPr>
              <a:t>DATA ANALYSIS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74763" y="8445400"/>
            <a:ext cx="10538473" cy="7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1"/>
              </a:lnSpc>
            </a:pPr>
            <a:r>
              <a:rPr lang="en-US" sz="4343" b="1" dirty="0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Abubakr Salahudeen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07931" y="2351019"/>
            <a:ext cx="5272135" cy="138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9"/>
              </a:lnSpc>
            </a:pPr>
            <a:r>
              <a:rPr lang="en-US" sz="7178" b="1">
                <a:solidFill>
                  <a:srgbClr val="FFFFFF"/>
                </a:solidFill>
                <a:latin typeface="Cinzel Bold"/>
                <a:ea typeface="Cinzel Bold"/>
                <a:cs typeface="Cinzel Bold"/>
                <a:sym typeface="Cinzel Bold"/>
              </a:rPr>
              <a:t>FOR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81600" y="3736667"/>
            <a:ext cx="8537367" cy="2663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9"/>
              </a:lnSpc>
            </a:pPr>
            <a:r>
              <a:rPr lang="en-US" sz="7178" b="1">
                <a:solidFill>
                  <a:srgbClr val="FFFFFF"/>
                </a:solidFill>
                <a:latin typeface="Cinzel Bold"/>
                <a:ea typeface="Cinzel Bold"/>
                <a:cs typeface="Cinzel Bold"/>
                <a:sym typeface="Cinzel Bold"/>
              </a:rPr>
              <a:t>THE URBAN AND CO.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24800" y="7031247"/>
            <a:ext cx="2615778" cy="138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9"/>
              </a:lnSpc>
            </a:pPr>
            <a:r>
              <a:rPr lang="en-US" sz="7178" b="1">
                <a:solidFill>
                  <a:srgbClr val="FFFFFF"/>
                </a:solidFill>
                <a:latin typeface="Cinzel Bold"/>
                <a:ea typeface="Cinzel Bold"/>
                <a:cs typeface="Cinzel Bold"/>
                <a:sym typeface="Cinzel Bold"/>
              </a:rPr>
              <a:t>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62189" y="2308690"/>
            <a:ext cx="7697111" cy="6947157"/>
            <a:chOff x="0" y="0"/>
            <a:chExt cx="10262815" cy="92628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62870" cy="9262880"/>
            </a:xfrm>
            <a:custGeom>
              <a:avLst/>
              <a:gdLst/>
              <a:ahLst/>
              <a:cxnLst/>
              <a:rect l="l" t="t" r="r" b="b"/>
              <a:pathLst>
                <a:path w="10262870" h="9262880">
                  <a:moveTo>
                    <a:pt x="0" y="0"/>
                  </a:moveTo>
                  <a:lnTo>
                    <a:pt x="10262870" y="0"/>
                  </a:lnTo>
                  <a:lnTo>
                    <a:pt x="10262870" y="9262880"/>
                  </a:lnTo>
                  <a:lnTo>
                    <a:pt x="0" y="9262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992" r="-2899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920957" y="561073"/>
            <a:ext cx="8955619" cy="111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5"/>
              </a:lnSpc>
            </a:pPr>
            <a:r>
              <a:rPr lang="en-US" sz="8541" b="1" spc="-529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" y="2308690"/>
            <a:ext cx="8573412" cy="7102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6"/>
              </a:lnSpc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Urban &amp; Co. is a retail business specializing in premium clothing, electronics, and beauty accessories, operating across multiple online and physical locations. It has a diverse customer base to boost across all categories.</a:t>
            </a:r>
          </a:p>
          <a:p>
            <a:pPr algn="l">
              <a:lnSpc>
                <a:spcPts val="4616"/>
              </a:lnSpc>
            </a:pPr>
            <a:endParaRPr lang="en-US" sz="33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4616"/>
              </a:lnSpc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Their operational efficiency and ability to adapt to changing customers’ preferences are key to long-term success.</a:t>
            </a:r>
          </a:p>
          <a:p>
            <a:pPr algn="l">
              <a:lnSpc>
                <a:spcPts val="4619"/>
              </a:lnSpc>
            </a:pPr>
            <a:endParaRPr lang="en-US" sz="33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5508"/>
              </a:lnSpc>
            </a:pPr>
            <a:endParaRPr lang="en-US" sz="33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4619"/>
              </a:lnSpc>
            </a:pPr>
            <a:endParaRPr lang="en-US" sz="33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0419" y="2775164"/>
            <a:ext cx="7635047" cy="7044841"/>
            <a:chOff x="0" y="0"/>
            <a:chExt cx="10180063" cy="93931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80066" cy="9393078"/>
            </a:xfrm>
            <a:custGeom>
              <a:avLst/>
              <a:gdLst/>
              <a:ahLst/>
              <a:cxnLst/>
              <a:rect l="l" t="t" r="r" b="b"/>
              <a:pathLst>
                <a:path w="10180066" h="9393078">
                  <a:moveTo>
                    <a:pt x="0" y="0"/>
                  </a:moveTo>
                  <a:lnTo>
                    <a:pt x="10180066" y="0"/>
                  </a:lnTo>
                  <a:lnTo>
                    <a:pt x="10180066" y="9393078"/>
                  </a:lnTo>
                  <a:lnTo>
                    <a:pt x="0" y="9393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202" r="-1920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97190" y="1400175"/>
            <a:ext cx="8516956" cy="111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5"/>
              </a:lnSpc>
            </a:pPr>
            <a:r>
              <a:rPr lang="en-US" sz="8541" b="1" spc="-529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57675" y="4282749"/>
            <a:ext cx="6803142" cy="56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287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project is a deep dive into the business operations of Urban  &amp; Co., with a dataset of 2000 records spanning from 2022-2023, with 11 columns containing sales transactions, customer data, product categories, and total sales.</a:t>
            </a:r>
          </a:p>
          <a:p>
            <a:pPr algn="l">
              <a:lnSpc>
                <a:spcPts val="4029"/>
              </a:lnSpc>
            </a:pPr>
            <a:endParaRPr lang="en-US" sz="2879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4031"/>
              </a:lnSpc>
            </a:pPr>
            <a:r>
              <a:rPr lang="en-US" sz="287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goal is to give our team the tools to make better, faster decisions! Whether that's optimizing inventory for future growth.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57675" y="2006933"/>
            <a:ext cx="6668606" cy="200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878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analysis examines the evolving relationship between urban environments and retail impact on businesses and consumers.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79604"/>
            <a:ext cx="15359917" cy="704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spc="-20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Primary Objective</a:t>
            </a:r>
            <a:r>
              <a:rPr lang="en-US" sz="3300" spc="-201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:  Discover insights on sales trends, customer distribution, and category performance.</a:t>
            </a:r>
          </a:p>
          <a:p>
            <a:pPr algn="l">
              <a:lnSpc>
                <a:spcPts val="4620"/>
              </a:lnSpc>
            </a:pPr>
            <a:endParaRPr lang="en-US" sz="3300" spc="-201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spc="-204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Category Growth </a:t>
            </a:r>
            <a:r>
              <a:rPr lang="en-US" sz="3300" spc="-204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 Promote balanced sales across all product categories.</a:t>
            </a:r>
          </a:p>
          <a:p>
            <a:pPr algn="l">
              <a:lnSpc>
                <a:spcPts val="4620"/>
              </a:lnSpc>
            </a:pPr>
            <a:endParaRPr lang="en-US" sz="3300" spc="-204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spc="-204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3300" b="1" spc="-204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Customer Engagement</a:t>
            </a:r>
            <a:r>
              <a:rPr lang="en-US" sz="3300" spc="-204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:  Increase customer loyalty and drive repeat business.</a:t>
            </a:r>
          </a:p>
          <a:p>
            <a:pPr algn="l">
              <a:lnSpc>
                <a:spcPts val="4620"/>
              </a:lnSpc>
            </a:pPr>
            <a:endParaRPr lang="en-US" sz="3300" spc="-204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spc="-20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Sales Analysis </a:t>
            </a:r>
            <a:r>
              <a:rPr lang="en-US" sz="3300" spc="-201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 Analyze the relationship between quantity sold and revenue across categories.</a:t>
            </a:r>
          </a:p>
          <a:p>
            <a:pPr algn="l">
              <a:lnSpc>
                <a:spcPts val="4620"/>
              </a:lnSpc>
            </a:pPr>
            <a:endParaRPr lang="en-US" sz="3300" spc="-201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b="1" spc="-20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Maximize Profit Margins :</a:t>
            </a:r>
            <a:r>
              <a:rPr lang="en-US" sz="3300" spc="-201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Increasing the difference between sales revenue and costs so that the business keeps more profit.</a:t>
            </a:r>
          </a:p>
          <a:p>
            <a:pPr algn="l">
              <a:lnSpc>
                <a:spcPts val="4620"/>
              </a:lnSpc>
            </a:pPr>
            <a:endParaRPr lang="en-US" sz="3300" spc="-201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562600" y="571500"/>
            <a:ext cx="8516956" cy="111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85"/>
              </a:lnSpc>
            </a:pPr>
            <a:r>
              <a:rPr lang="en-US" sz="8541" b="1" spc="-529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6877" y="8833447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60970" y="8833447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0125" y="3901261"/>
            <a:ext cx="5159564" cy="5357039"/>
          </a:xfrm>
          <a:custGeom>
            <a:avLst/>
            <a:gdLst/>
            <a:ahLst/>
            <a:cxnLst/>
            <a:rect l="l" t="t" r="r" b="b"/>
            <a:pathLst>
              <a:path w="5159564" h="5357039">
                <a:moveTo>
                  <a:pt x="0" y="0"/>
                </a:moveTo>
                <a:lnTo>
                  <a:pt x="5159564" y="0"/>
                </a:lnTo>
                <a:lnTo>
                  <a:pt x="5159564" y="5357039"/>
                </a:lnTo>
                <a:lnTo>
                  <a:pt x="0" y="535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466524" y="4521769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52401" y="1607189"/>
            <a:ext cx="5159564" cy="5357039"/>
          </a:xfrm>
          <a:custGeom>
            <a:avLst/>
            <a:gdLst/>
            <a:ahLst/>
            <a:cxnLst/>
            <a:rect l="l" t="t" r="r" b="b"/>
            <a:pathLst>
              <a:path w="5159564" h="5357039">
                <a:moveTo>
                  <a:pt x="0" y="0"/>
                </a:moveTo>
                <a:lnTo>
                  <a:pt x="5159564" y="0"/>
                </a:lnTo>
                <a:lnTo>
                  <a:pt x="5159564" y="5357039"/>
                </a:lnTo>
                <a:lnTo>
                  <a:pt x="0" y="535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63298" y="2452489"/>
            <a:ext cx="1833220" cy="1833220"/>
          </a:xfrm>
          <a:custGeom>
            <a:avLst/>
            <a:gdLst/>
            <a:ahLst/>
            <a:cxnLst/>
            <a:rect l="l" t="t" r="r" b="b"/>
            <a:pathLst>
              <a:path w="1833220" h="1833220">
                <a:moveTo>
                  <a:pt x="0" y="0"/>
                </a:moveTo>
                <a:lnTo>
                  <a:pt x="1833219" y="0"/>
                </a:lnTo>
                <a:lnTo>
                  <a:pt x="1833219" y="1833220"/>
                </a:lnTo>
                <a:lnTo>
                  <a:pt x="0" y="183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33605" y="2452489"/>
            <a:ext cx="1833220" cy="1833220"/>
          </a:xfrm>
          <a:custGeom>
            <a:avLst/>
            <a:gdLst/>
            <a:ahLst/>
            <a:cxnLst/>
            <a:rect l="l" t="t" r="r" b="b"/>
            <a:pathLst>
              <a:path w="1833220" h="1833220">
                <a:moveTo>
                  <a:pt x="0" y="0"/>
                </a:moveTo>
                <a:lnTo>
                  <a:pt x="1833219" y="0"/>
                </a:lnTo>
                <a:lnTo>
                  <a:pt x="1833219" y="1833220"/>
                </a:lnTo>
                <a:lnTo>
                  <a:pt x="0" y="183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785380" y="2452489"/>
            <a:ext cx="1833220" cy="1833220"/>
          </a:xfrm>
          <a:custGeom>
            <a:avLst/>
            <a:gdLst/>
            <a:ahLst/>
            <a:cxnLst/>
            <a:rect l="l" t="t" r="r" b="b"/>
            <a:pathLst>
              <a:path w="1833220" h="1833220">
                <a:moveTo>
                  <a:pt x="0" y="0"/>
                </a:moveTo>
                <a:lnTo>
                  <a:pt x="1833220" y="0"/>
                </a:lnTo>
                <a:lnTo>
                  <a:pt x="1833220" y="1833220"/>
                </a:lnTo>
                <a:lnTo>
                  <a:pt x="0" y="183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58184" y="4578664"/>
            <a:ext cx="3514874" cy="36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</a:pPr>
            <a:r>
              <a:rPr lang="en-US" sz="2099" b="1">
                <a:solidFill>
                  <a:srgbClr val="E6C333"/>
                </a:solidFill>
                <a:latin typeface="Inter Bold"/>
                <a:ea typeface="Inter Bold"/>
                <a:cs typeface="Inter Bold"/>
                <a:sym typeface="Inter Bold"/>
              </a:rPr>
              <a:t>POWER BI VISUALIZATION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12309" y="4578664"/>
            <a:ext cx="3514874" cy="36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</a:pPr>
            <a:r>
              <a:rPr lang="en-US" sz="2099" b="1">
                <a:solidFill>
                  <a:srgbClr val="E6C333"/>
                </a:solidFill>
                <a:latin typeface="Inter Bold"/>
                <a:ea typeface="Inter Bold"/>
                <a:cs typeface="Inter Bold"/>
                <a:sym typeface="Inter Bold"/>
              </a:rPr>
              <a:t>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49264" y="4588189"/>
            <a:ext cx="4147551" cy="339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9" b="1">
                <a:solidFill>
                  <a:srgbClr val="E6C333"/>
                </a:solidFill>
                <a:latin typeface="Inter Bold"/>
                <a:ea typeface="Inter Bold"/>
                <a:cs typeface="Inter Bold"/>
                <a:sym typeface="Inter Bold"/>
              </a:rPr>
              <a:t>CHARTS &amp; DASHBOARD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343025"/>
            <a:ext cx="16230600" cy="71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1" spc="-421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Data  cleaning and preparation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1365" y="2822210"/>
            <a:ext cx="1299817" cy="98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3"/>
              </a:lnSpc>
            </a:pPr>
            <a:r>
              <a:rPr lang="en-US" sz="5180" b="1">
                <a:solidFill>
                  <a:srgbClr val="0F0F2E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94091" y="2822210"/>
            <a:ext cx="1299817" cy="98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3"/>
              </a:lnSpc>
            </a:pPr>
            <a:r>
              <a:rPr lang="en-US" sz="5180" b="1">
                <a:solidFill>
                  <a:srgbClr val="0F0F2E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05399" y="2822210"/>
            <a:ext cx="1299817" cy="98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3"/>
              </a:lnSpc>
            </a:pPr>
            <a:r>
              <a:rPr lang="en-US" sz="5180" b="1">
                <a:solidFill>
                  <a:srgbClr val="0F0F2E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17" name="Freeform 17"/>
          <p:cNvSpPr/>
          <p:nvPr/>
        </p:nvSpPr>
        <p:spPr>
          <a:xfrm rot="-5400000">
            <a:off x="3809122" y="6383985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18" name="Freeform 18"/>
          <p:cNvSpPr/>
          <p:nvPr/>
        </p:nvSpPr>
        <p:spPr>
          <a:xfrm rot="-5400000" flipH="1" flipV="1">
            <a:off x="-1740692" y="658596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5162812" y="1243462"/>
                </a:moveTo>
                <a:lnTo>
                  <a:pt x="0" y="1243462"/>
                </a:lnTo>
                <a:lnTo>
                  <a:pt x="0" y="0"/>
                </a:lnTo>
                <a:lnTo>
                  <a:pt x="5162812" y="0"/>
                </a:lnTo>
                <a:lnTo>
                  <a:pt x="5162812" y="1243462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19" name="Freeform 19"/>
          <p:cNvSpPr/>
          <p:nvPr/>
        </p:nvSpPr>
        <p:spPr>
          <a:xfrm rot="-5400000" flipH="1" flipV="1">
            <a:off x="3540426" y="658596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5162812" y="1243462"/>
                </a:moveTo>
                <a:lnTo>
                  <a:pt x="0" y="1243462"/>
                </a:lnTo>
                <a:lnTo>
                  <a:pt x="0" y="0"/>
                </a:lnTo>
                <a:lnTo>
                  <a:pt x="5162812" y="0"/>
                </a:lnTo>
                <a:lnTo>
                  <a:pt x="5162812" y="1243462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20" name="Freeform 20"/>
          <p:cNvSpPr/>
          <p:nvPr/>
        </p:nvSpPr>
        <p:spPr>
          <a:xfrm rot="-5400000" flipH="1" flipV="1">
            <a:off x="9303712" y="658596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5162812" y="1243462"/>
                </a:moveTo>
                <a:lnTo>
                  <a:pt x="0" y="1243462"/>
                </a:lnTo>
                <a:lnTo>
                  <a:pt x="0" y="0"/>
                </a:lnTo>
                <a:lnTo>
                  <a:pt x="5162812" y="0"/>
                </a:lnTo>
                <a:lnTo>
                  <a:pt x="5162812" y="1243462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506849" y="8833447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22" name="Freeform 22"/>
          <p:cNvSpPr/>
          <p:nvPr/>
        </p:nvSpPr>
        <p:spPr>
          <a:xfrm rot="-5400000">
            <a:off x="9522302" y="673836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24630" y="5275920"/>
            <a:ext cx="3927846" cy="3494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sz="2548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Power BI was used to clean, shape, and organize the data, making it easier to analyze and draw insights. It helped convert raw information into a structured format, allowing for clearer reporting.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93741" y="5285445"/>
            <a:ext cx="4601441" cy="263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7"/>
              </a:lnSpc>
              <a:spcBef>
                <a:spcPct val="0"/>
              </a:spcBef>
            </a:pPr>
            <a:r>
              <a:rPr lang="en-US" sz="2577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SQL is a reliable tool for working with large datasets. It helps turn raw data into a clear, usable format, making it easier to find patterns and trends without needing complicated formulas.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52401" y="5223175"/>
            <a:ext cx="5322120" cy="363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7022" lvl="1" indent="-278511" algn="l">
              <a:lnSpc>
                <a:spcPts val="3611"/>
              </a:lnSpc>
              <a:buFont typeface="Arial"/>
              <a:buChar char="•"/>
            </a:pPr>
            <a:r>
              <a:rPr lang="en-US" sz="2579" b="1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Doughnut Chart</a:t>
            </a:r>
            <a:r>
              <a:rPr lang="en-US" sz="2579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Shows the distribution of overall sales by category.</a:t>
            </a:r>
          </a:p>
          <a:p>
            <a:pPr marL="557022" lvl="1" indent="-278511" algn="l">
              <a:lnSpc>
                <a:spcPts val="3611"/>
              </a:lnSpc>
              <a:buFont typeface="Arial"/>
              <a:buChar char="•"/>
            </a:pPr>
            <a:r>
              <a:rPr lang="en-US" sz="2579" b="1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Clustered Bar Chart</a:t>
            </a:r>
            <a:r>
              <a:rPr lang="en-US" sz="2579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Shows how often transactions occur in each category.</a:t>
            </a:r>
          </a:p>
          <a:p>
            <a:pPr marL="557022" lvl="1" indent="-278511" algn="l">
              <a:lnSpc>
                <a:spcPts val="3611"/>
              </a:lnSpc>
              <a:buFont typeface="Arial"/>
              <a:buChar char="•"/>
            </a:pPr>
            <a:r>
              <a:rPr lang="en-US" sz="2579" b="1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Pie Chart</a:t>
            </a:r>
            <a:r>
              <a:rPr lang="en-US" sz="2579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Shows the proportion of sales or items across different categories.</a:t>
            </a:r>
          </a:p>
          <a:p>
            <a:pPr marL="557022" lvl="1" indent="-278511" algn="l">
              <a:lnSpc>
                <a:spcPts val="3611"/>
              </a:lnSpc>
              <a:buFont typeface="Arial"/>
              <a:buChar char="•"/>
            </a:pPr>
            <a:r>
              <a:rPr lang="en-US" sz="2579" b="1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Line Chart</a:t>
            </a:r>
            <a:r>
              <a:rPr lang="en-US" sz="2579" spc="-15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Summarizes trends over a continuous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93341" y="4303167"/>
            <a:ext cx="14501319" cy="0"/>
          </a:xfrm>
          <a:prstGeom prst="line">
            <a:avLst/>
          </a:prstGeom>
          <a:ln w="38100" cap="flat">
            <a:solidFill>
              <a:srgbClr val="405F6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893341" y="2278579"/>
            <a:ext cx="1450131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</a:pPr>
            <a:r>
              <a:rPr lang="en-US" sz="8500" b="1">
                <a:solidFill>
                  <a:srgbClr val="E6C333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Kpis Tracked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22314" y="5776844"/>
            <a:ext cx="3568923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5000" b="1">
                <a:solidFill>
                  <a:srgbClr val="E6C33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UNIQUE RECORDS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82793" y="5776844"/>
            <a:ext cx="3568923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5"/>
              </a:lnSpc>
            </a:pPr>
            <a:r>
              <a:rPr lang="en-US" sz="4687" b="1">
                <a:solidFill>
                  <a:srgbClr val="E6C33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PRODUCT CATEGORY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93341" y="5776844"/>
            <a:ext cx="3568923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5000" b="1">
                <a:solidFill>
                  <a:srgbClr val="E6C33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TOTAL RECORDS</a:t>
            </a:r>
          </a:p>
        </p:txBody>
      </p:sp>
      <p:sp>
        <p:nvSpPr>
          <p:cNvPr id="7" name="Freeform 7"/>
          <p:cNvSpPr/>
          <p:nvPr/>
        </p:nvSpPr>
        <p:spPr>
          <a:xfrm>
            <a:off x="1096396" y="730084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725369" y="730084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88181" y="7333864"/>
            <a:ext cx="5162812" cy="1243462"/>
          </a:xfrm>
          <a:custGeom>
            <a:avLst/>
            <a:gdLst/>
            <a:ahLst/>
            <a:cxnLst/>
            <a:rect l="l" t="t" r="r" b="b"/>
            <a:pathLst>
              <a:path w="5162812" h="1243462">
                <a:moveTo>
                  <a:pt x="0" y="0"/>
                </a:moveTo>
                <a:lnTo>
                  <a:pt x="5162812" y="0"/>
                </a:lnTo>
                <a:lnTo>
                  <a:pt x="5162812" y="1243462"/>
                </a:lnTo>
                <a:lnTo>
                  <a:pt x="0" y="124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014" b="-11401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87683" y="7565363"/>
            <a:ext cx="1580238" cy="70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7"/>
              </a:lnSpc>
              <a:spcBef>
                <a:spcPct val="0"/>
              </a:spcBef>
            </a:pPr>
            <a:r>
              <a:rPr lang="en-US" sz="4148" b="1" spc="-256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2000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6656" y="7532343"/>
            <a:ext cx="1580238" cy="70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7"/>
              </a:lnSpc>
              <a:spcBef>
                <a:spcPct val="0"/>
              </a:spcBef>
            </a:pPr>
            <a:r>
              <a:rPr lang="en-US" sz="4148" b="1" spc="-256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155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77135" y="7532343"/>
            <a:ext cx="1580238" cy="70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7"/>
              </a:lnSpc>
              <a:spcBef>
                <a:spcPct val="0"/>
              </a:spcBef>
            </a:pPr>
            <a:r>
              <a:rPr lang="en-US" sz="4148" b="1" spc="-256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253157"/>
            <a:ext cx="18288000" cy="10540157"/>
          </a:xfrm>
          <a:custGeom>
            <a:avLst/>
            <a:gdLst/>
            <a:ahLst/>
            <a:cxnLst/>
            <a:rect l="l" t="t" r="r" b="b"/>
            <a:pathLst>
              <a:path w="18288000" h="10540157">
                <a:moveTo>
                  <a:pt x="0" y="0"/>
                </a:moveTo>
                <a:lnTo>
                  <a:pt x="18288000" y="0"/>
                </a:lnTo>
                <a:lnTo>
                  <a:pt x="18288000" y="10540157"/>
                </a:lnTo>
                <a:lnTo>
                  <a:pt x="0" y="1054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839691" y="2405638"/>
            <a:ext cx="3753818" cy="1698862"/>
            <a:chOff x="0" y="0"/>
            <a:chExt cx="5005091" cy="22651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05070" cy="2265172"/>
            </a:xfrm>
            <a:custGeom>
              <a:avLst/>
              <a:gdLst/>
              <a:ahLst/>
              <a:cxnLst/>
              <a:rect l="l" t="t" r="r" b="b"/>
              <a:pathLst>
                <a:path w="5005070" h="2265172">
                  <a:moveTo>
                    <a:pt x="0" y="0"/>
                  </a:moveTo>
                  <a:lnTo>
                    <a:pt x="5005070" y="0"/>
                  </a:lnTo>
                  <a:lnTo>
                    <a:pt x="5005070" y="2265172"/>
                  </a:lnTo>
                  <a:lnTo>
                    <a:pt x="0" y="2265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2" b="-15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39691" y="4249379"/>
            <a:ext cx="3762867" cy="1700009"/>
            <a:chOff x="0" y="0"/>
            <a:chExt cx="5017156" cy="22666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17135" cy="2266696"/>
            </a:xfrm>
            <a:custGeom>
              <a:avLst/>
              <a:gdLst/>
              <a:ahLst/>
              <a:cxnLst/>
              <a:rect l="l" t="t" r="r" b="b"/>
              <a:pathLst>
                <a:path w="5017135" h="2266696">
                  <a:moveTo>
                    <a:pt x="0" y="0"/>
                  </a:moveTo>
                  <a:lnTo>
                    <a:pt x="5017135" y="0"/>
                  </a:lnTo>
                  <a:lnTo>
                    <a:pt x="5017135" y="2266696"/>
                  </a:lnTo>
                  <a:lnTo>
                    <a:pt x="0" y="2266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" b="-6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839691" y="6168463"/>
            <a:ext cx="3771916" cy="1814520"/>
            <a:chOff x="0" y="0"/>
            <a:chExt cx="5029221" cy="2419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29200" cy="2419350"/>
            </a:xfrm>
            <a:custGeom>
              <a:avLst/>
              <a:gdLst/>
              <a:ahLst/>
              <a:cxnLst/>
              <a:rect l="l" t="t" r="r" b="b"/>
              <a:pathLst>
                <a:path w="5029200" h="2419350">
                  <a:moveTo>
                    <a:pt x="0" y="0"/>
                  </a:moveTo>
                  <a:lnTo>
                    <a:pt x="5029200" y="0"/>
                  </a:lnTo>
                  <a:lnTo>
                    <a:pt x="5029200" y="2419350"/>
                  </a:lnTo>
                  <a:lnTo>
                    <a:pt x="0" y="2419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839691" y="8204617"/>
            <a:ext cx="3771916" cy="1693933"/>
            <a:chOff x="0" y="0"/>
            <a:chExt cx="5029221" cy="22585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29200" cy="2258568"/>
            </a:xfrm>
            <a:custGeom>
              <a:avLst/>
              <a:gdLst/>
              <a:ahLst/>
              <a:cxnLst/>
              <a:rect l="l" t="t" r="r" b="b"/>
              <a:pathLst>
                <a:path w="5029200" h="2258568">
                  <a:moveTo>
                    <a:pt x="0" y="0"/>
                  </a:moveTo>
                  <a:lnTo>
                    <a:pt x="5029200" y="0"/>
                  </a:lnTo>
                  <a:lnTo>
                    <a:pt x="5029200" y="2258568"/>
                  </a:lnTo>
                  <a:lnTo>
                    <a:pt x="0" y="225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57" b="-15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519735" y="7602969"/>
            <a:ext cx="10739565" cy="2295582"/>
            <a:chOff x="0" y="0"/>
            <a:chExt cx="14319420" cy="30607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319377" cy="3060827"/>
            </a:xfrm>
            <a:custGeom>
              <a:avLst/>
              <a:gdLst/>
              <a:ahLst/>
              <a:cxnLst/>
              <a:rect l="l" t="t" r="r" b="b"/>
              <a:pathLst>
                <a:path w="14319377" h="3060827">
                  <a:moveTo>
                    <a:pt x="0" y="0"/>
                  </a:moveTo>
                  <a:lnTo>
                    <a:pt x="14319377" y="0"/>
                  </a:lnTo>
                  <a:lnTo>
                    <a:pt x="14319377" y="3060827"/>
                  </a:lnTo>
                  <a:lnTo>
                    <a:pt x="0" y="3060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2" b="-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6519735" y="5020463"/>
            <a:ext cx="10739565" cy="2215035"/>
            <a:chOff x="0" y="0"/>
            <a:chExt cx="14319420" cy="29533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319377" cy="2953385"/>
            </a:xfrm>
            <a:custGeom>
              <a:avLst/>
              <a:gdLst/>
              <a:ahLst/>
              <a:cxnLst/>
              <a:rect l="l" t="t" r="r" b="b"/>
              <a:pathLst>
                <a:path w="14319377" h="2953385">
                  <a:moveTo>
                    <a:pt x="0" y="0"/>
                  </a:moveTo>
                  <a:lnTo>
                    <a:pt x="14319377" y="0"/>
                  </a:lnTo>
                  <a:lnTo>
                    <a:pt x="14319377" y="2953385"/>
                  </a:lnTo>
                  <a:lnTo>
                    <a:pt x="0" y="295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56" b="-55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6519735" y="2405638"/>
            <a:ext cx="10739565" cy="2247353"/>
            <a:chOff x="0" y="0"/>
            <a:chExt cx="14319420" cy="29964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319377" cy="2996438"/>
            </a:xfrm>
            <a:custGeom>
              <a:avLst/>
              <a:gdLst/>
              <a:ahLst/>
              <a:cxnLst/>
              <a:rect l="l" t="t" r="r" b="b"/>
              <a:pathLst>
                <a:path w="14319377" h="2996438">
                  <a:moveTo>
                    <a:pt x="0" y="0"/>
                  </a:moveTo>
                  <a:lnTo>
                    <a:pt x="14319377" y="0"/>
                  </a:lnTo>
                  <a:lnTo>
                    <a:pt x="14319377" y="2996438"/>
                  </a:lnTo>
                  <a:lnTo>
                    <a:pt x="0" y="299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4243963" y="753174"/>
            <a:ext cx="9800074" cy="71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1" spc="-421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SQl result  table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9909" y="1287403"/>
            <a:ext cx="16667624" cy="8390688"/>
            <a:chOff x="0" y="0"/>
            <a:chExt cx="22223499" cy="111875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23543" cy="11187557"/>
            </a:xfrm>
            <a:custGeom>
              <a:avLst/>
              <a:gdLst/>
              <a:ahLst/>
              <a:cxnLst/>
              <a:rect l="l" t="t" r="r" b="b"/>
              <a:pathLst>
                <a:path w="22223543" h="11187557">
                  <a:moveTo>
                    <a:pt x="0" y="0"/>
                  </a:moveTo>
                  <a:lnTo>
                    <a:pt x="22223543" y="0"/>
                  </a:lnTo>
                  <a:lnTo>
                    <a:pt x="22223543" y="11187557"/>
                  </a:lnTo>
                  <a:lnTo>
                    <a:pt x="0" y="11187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83" b="-38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966868" y="315722"/>
            <a:ext cx="12354264" cy="71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1" spc="-421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Dashboard design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61269" y="676974"/>
            <a:ext cx="11326555" cy="86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96"/>
              </a:lnSpc>
            </a:pPr>
            <a:r>
              <a:rPr lang="en-US" sz="6800" b="1" spc="-421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INSIGHTS  DISCOVERED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76664"/>
            <a:ext cx="15139788" cy="763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From the dashboard analysis, we were able to discover the key performance indicators showing 2,000 total records, 155 unique customers, and 3 unique categories. </a:t>
            </a:r>
          </a:p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There’s been a decline in total sales from female customers, specifically from the beauty category, across the year 2022-2023.</a:t>
            </a:r>
          </a:p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3% growth in total sales across the year in all categories. Electronics contributing 34.42%, clothing giving about 34.12% </a:t>
            </a:r>
          </a:p>
          <a:p>
            <a:pPr algn="l">
              <a:lnSpc>
                <a:spcPts val="4554"/>
              </a:lnSpc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and beauty 31.46%.</a:t>
            </a:r>
          </a:p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clothing category has more customers and transaction count, followed by the electronics and beauty respectively.</a:t>
            </a:r>
          </a:p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 upward trend in sales from Aug - Dec.</a:t>
            </a:r>
          </a:p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Most customers purchase only a small number of items,  typically four or fewer.</a:t>
            </a:r>
          </a:p>
          <a:p>
            <a:pPr marL="712470" lvl="1" indent="-356235" algn="l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 a total of 38,440 in sales, customer ID 3 was the top buyer.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53173"/>
            <a:ext cx="8874533" cy="71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1" spc="-421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Recommendation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6595" y="2455546"/>
            <a:ext cx="15473049" cy="173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There is a need to identify the cause of the decline in the beauty category. Tracking metrics to find root causes, such as product quality, shifts in trends, or negative brand events.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4665" y="4351674"/>
            <a:ext cx="15473049" cy="168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 the clothing and electronics categories being the top categories, they can be leveraged to boost sales in low-performing categories through cross-selling strategies.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0630" y="6247802"/>
            <a:ext cx="15341118" cy="173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Introduction of holiday season sales through marketing campaigns, promotional offers, and holiday bundles to encourage larger purchases and maximize sales during the peak period.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6595" y="8143222"/>
            <a:ext cx="15341118" cy="1115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just">
              <a:lnSpc>
                <a:spcPts val="4554"/>
              </a:lnSpc>
              <a:buFont typeface="Arial"/>
              <a:buChar char="•"/>
            </a:pPr>
            <a:r>
              <a:rPr lang="en-US" sz="33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Assessment of products in the beauty category, such as introducing trending brands and new products to re-engage the female demographic.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90625"/>
            <a:ext cx="6729013" cy="71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 b="1" spc="-421">
                <a:solidFill>
                  <a:srgbClr val="E6C333"/>
                </a:solidFill>
                <a:latin typeface="Cinzel Bold"/>
                <a:ea typeface="Cinzel Bold"/>
                <a:cs typeface="Cinzel Bold"/>
                <a:sym typeface="Cinzel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45411" y="2765145"/>
            <a:ext cx="14024605" cy="54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54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83582" y="2755620"/>
            <a:ext cx="14155494" cy="468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spc="-201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company ‘s sales show vulnerable growth due to uneven distribution across product categories.  A clear seasonal pattern, likely influenced by holidays, suggests an opportunity to leverage these periods for increased sales.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 lang="en-US" sz="3300" spc="-201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spc="-204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Key findings indicate a widespread issue with small purchases, as the quantity ordered is consistently below four units per transaction.  Additionally, the company is falling to retain its customer base, with a notable decline in sales within the beauty category. This suggests a loss of customer engagement and satisfaction in a critical market segment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322248"/>
            <a:chOff x="0" y="0"/>
            <a:chExt cx="24384000" cy="137629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62989"/>
            </a:xfrm>
            <a:custGeom>
              <a:avLst/>
              <a:gdLst/>
              <a:ahLst/>
              <a:cxnLst/>
              <a:rect l="l" t="t" r="r" b="b"/>
              <a:pathLst>
                <a:path w="24384000" h="13762989">
                  <a:moveTo>
                    <a:pt x="0" y="0"/>
                  </a:moveTo>
                  <a:lnTo>
                    <a:pt x="24384000" y="0"/>
                  </a:lnTo>
                  <a:lnTo>
                    <a:pt x="24384000" y="13762989"/>
                  </a:lnTo>
                  <a:lnTo>
                    <a:pt x="0" y="13762989"/>
                  </a:lnTo>
                  <a:close/>
                </a:path>
              </a:pathLst>
            </a:custGeom>
            <a:solidFill>
              <a:srgbClr val="294749">
                <a:alpha val="57255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25524" y="4329794"/>
            <a:ext cx="8436952" cy="136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9"/>
              </a:lnSpc>
            </a:pPr>
            <a:r>
              <a:rPr lang="en-US" sz="7178" b="1">
                <a:solidFill>
                  <a:srgbClr val="E6C333"/>
                </a:solidFill>
                <a:latin typeface="PT Sans Bold"/>
                <a:ea typeface="PT Sans Bold"/>
                <a:cs typeface="PT Sans Bold"/>
                <a:sym typeface="PT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732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PT Sans Bold</vt:lpstr>
      <vt:lpstr>Source Sans Pro</vt:lpstr>
      <vt:lpstr>Inter Bold</vt:lpstr>
      <vt:lpstr>Source Sans Pro Bold</vt:lpstr>
      <vt:lpstr>Cinzel Bold</vt:lpstr>
      <vt:lpstr>Arial</vt:lpstr>
      <vt:lpstr>Cinzel Decorative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NEWW.pptx</dc:title>
  <cp:lastModifiedBy>Abubakr Agbolahan Salahudeen</cp:lastModifiedBy>
  <cp:revision>2</cp:revision>
  <dcterms:created xsi:type="dcterms:W3CDTF">2006-08-16T00:00:00Z</dcterms:created>
  <dcterms:modified xsi:type="dcterms:W3CDTF">2025-09-04T03:49:07Z</dcterms:modified>
  <dc:identifier>DAGxw-KawdA</dc:identifier>
</cp:coreProperties>
</file>